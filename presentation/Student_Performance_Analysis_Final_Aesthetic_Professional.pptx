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06840" y="-594360"/>
            <a:ext cx="3749039" cy="3749039"/>
          </a:xfrm>
          <a:prstGeom prst="round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38360" y="228600"/>
            <a:ext cx="2880360" cy="2880360"/>
          </a:xfrm>
          <a:prstGeom prst="roundRect">
            <a:avLst/>
          </a:prstGeom>
          <a:solidFill>
            <a:srgbClr val="80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38160" y="5394960"/>
            <a:ext cx="4480560" cy="1920240"/>
          </a:xfrm>
          <a:prstGeom prst="roundRect">
            <a:avLst/>
          </a:prstGeom>
          <a:solidFill>
            <a:srgbClr val="5B9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640080" y="5257800"/>
            <a:ext cx="2651760" cy="2011680"/>
          </a:xfrm>
          <a:prstGeom prst="round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713232"/>
            <a:ext cx="2240280" cy="384048"/>
          </a:xfrm>
          <a:prstGeom prst="roundRect">
            <a:avLst/>
          </a:prstGeom>
          <a:solidFill>
            <a:srgbClr val="1D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786384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5E2DC"/>
                </a:solidFill>
                <a:latin typeface="Aptos"/>
              </a:rPr>
              <a:t>DATA SCIENCE •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78638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STUDENT PERFORMANCE
ANALYSIS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246120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C3D2E6"/>
                </a:solidFill>
                <a:latin typeface="Aptos"/>
              </a:rPr>
              <a:t>A Data-Driven Approach to Academic Performance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251960"/>
            <a:ext cx="5623560" cy="1325880"/>
          </a:xfrm>
          <a:prstGeom prst="roundRect">
            <a:avLst/>
          </a:prstGeom>
          <a:solidFill>
            <a:srgbClr val="18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44622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DB4CF"/>
                </a:solidFill>
                <a:latin typeface="Aptos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727448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Satyajeet Singh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46227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DB4CF"/>
                </a:solidFill>
                <a:latin typeface="Aptos"/>
              </a:rPr>
              <a:t>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727448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Data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989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6BCD5"/>
                </a:solidFill>
                <a:latin typeface="Aptos"/>
              </a:rPr>
              <a:t>Academic Session  •  2025–2026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1463040"/>
            <a:ext cx="73152" cy="3703320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A practical analytics solution for understanding student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486</a:t>
            </a:r>
          </a:p>
          <a:p>
            <a:r>
              <a:rPr sz="1000">
                <a:solidFill>
                  <a:srgbClr val="53647D"/>
                </a:solidFill>
              </a:rPr>
              <a:t>TOTAL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1234440"/>
          </a:xfrm>
          <a:prstGeom prst="rect">
            <a:avLst/>
          </a:prstGeom>
          <a:solidFill>
            <a:srgbClr val="22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91.8%</a:t>
            </a:r>
          </a:p>
          <a:p>
            <a:r>
              <a:rPr sz="1000">
                <a:solidFill>
                  <a:srgbClr val="53647D"/>
                </a:solidFill>
              </a:rPr>
              <a:t>PASS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64008" cy="1234440"/>
          </a:xfrm>
          <a:prstGeom prst="rect">
            <a:avLst/>
          </a:prstGeom>
          <a:solidFill>
            <a:srgbClr val="1CB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84.7%</a:t>
            </a:r>
          </a:p>
          <a:p>
            <a:r>
              <a:rPr sz="1000">
                <a:solidFill>
                  <a:srgbClr val="53647D"/>
                </a:solidFill>
              </a:rPr>
              <a:t>AVG. ATTENDANCE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64008" cy="1234440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2396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73.6</a:t>
            </a:r>
          </a:p>
          <a:p>
            <a:r>
              <a:rPr sz="1000">
                <a:solidFill>
                  <a:srgbClr val="53647D"/>
                </a:solidFill>
              </a:rPr>
              <a:t>AVG. MARKS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417320"/>
            <a:ext cx="64008" cy="1234440"/>
          </a:xfrm>
          <a:prstGeom prst="rect">
            <a:avLst/>
          </a:prstGeom>
          <a:solidFill>
            <a:srgbClr val="6F4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Analyze academic records using structured data analysis techniques.</a:t>
            </a:r>
          </a:p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Combine attendance, assignments, internal marks, final marks, department and semester information.</a:t>
            </a:r>
          </a:p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Identify performance patterns, top performers and students who may need academic support.</a:t>
            </a:r>
          </a:p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Present findings through professional visualizations and an interactive dashboard.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02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Why a centralized student analytics view is useful.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1937"/>
                </a:solidFill>
              </a:rPr>
              <a:t>Fragmented Data</a:t>
            </a:r>
          </a:p>
          <a:p>
            <a:r>
              <a:rPr sz="1300">
                <a:solidFill>
                  <a:srgbClr val="53647D"/>
                </a:solidFill>
              </a:rPr>
              <a:t>Academic information can exist across multiple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0749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1937"/>
                </a:solidFill>
              </a:rPr>
              <a:t>Limited Visibility</a:t>
            </a:r>
          </a:p>
          <a:p>
            <a:r>
              <a:rPr sz="1300">
                <a:solidFill>
                  <a:srgbClr val="53647D"/>
                </a:solidFill>
              </a:rPr>
              <a:t>Marks alone do not explain attendance or subject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74720"/>
            <a:ext cx="50749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1937"/>
                </a:solidFill>
              </a:rPr>
              <a:t>Manual Analysis</a:t>
            </a:r>
          </a:p>
          <a:p>
            <a:r>
              <a:rPr sz="1300">
                <a:solidFill>
                  <a:srgbClr val="53647D"/>
                </a:solidFill>
              </a:rPr>
              <a:t>Finding trends across hundreds of students takes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74720"/>
            <a:ext cx="50749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1937"/>
                </a:solidFill>
              </a:rPr>
              <a:t>Decision Support</a:t>
            </a:r>
          </a:p>
          <a:p>
            <a:r>
              <a:rPr sz="1300">
                <a:solidFill>
                  <a:srgbClr val="53647D"/>
                </a:solidFill>
              </a:rPr>
              <a:t>Teachers need clear indicators for timely academic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03 •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What the system is designed to deliver.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00200"/>
            <a:ext cx="2880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937"/>
                </a:solidFill>
              </a:rPr>
              <a:t>01   Clean</a:t>
            </a:r>
          </a:p>
          <a:p>
            <a:r>
              <a:rPr sz="1100">
                <a:solidFill>
                  <a:srgbClr val="53647D"/>
                </a:solidFill>
              </a:rPr>
              <a:t>Prepare consistent and analysis-ready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600200"/>
            <a:ext cx="2880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937"/>
                </a:solidFill>
              </a:rPr>
              <a:t>02   Explore</a:t>
            </a:r>
          </a:p>
          <a:p>
            <a:r>
              <a:rPr sz="1100">
                <a:solidFill>
                  <a:srgbClr val="53647D"/>
                </a:solidFill>
              </a:rPr>
              <a:t>Discover trends using EDA.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8" y="1600200"/>
            <a:ext cx="2880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937"/>
                </a:solidFill>
              </a:rPr>
              <a:t>03   Visualize</a:t>
            </a:r>
          </a:p>
          <a:p>
            <a:r>
              <a:rPr sz="1100">
                <a:solidFill>
                  <a:srgbClr val="53647D"/>
                </a:solidFill>
              </a:rPr>
              <a:t>Convert metrics into clear charts.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657600"/>
            <a:ext cx="2880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937"/>
                </a:solidFill>
              </a:rPr>
              <a:t>04   Monitor</a:t>
            </a:r>
          </a:p>
          <a:p>
            <a:r>
              <a:rPr sz="1100">
                <a:solidFill>
                  <a:srgbClr val="53647D"/>
                </a:solidFill>
              </a:rPr>
              <a:t>Highlight academic indicators.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747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3657600"/>
            <a:ext cx="2880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937"/>
                </a:solidFill>
              </a:rPr>
              <a:t>05   Report</a:t>
            </a:r>
          </a:p>
          <a:p>
            <a:r>
              <a:rPr sz="1100">
                <a:solidFill>
                  <a:srgbClr val="53647D"/>
                </a:solidFill>
              </a:rPr>
              <a:t>Present insights through a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4747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3657600"/>
            <a:ext cx="2880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937"/>
                </a:solidFill>
              </a:rPr>
              <a:t>06   Support</a:t>
            </a:r>
          </a:p>
          <a:p>
            <a:r>
              <a:rPr sz="1100">
                <a:solidFill>
                  <a:srgbClr val="53647D"/>
                </a:solidFill>
              </a:rPr>
              <a:t>Identify students needing attention.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04 •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Tools used for data preparation, analysis and 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Python</a:t>
            </a:r>
          </a:p>
          <a:p>
            <a:r>
              <a:rPr sz="1000">
                <a:solidFill>
                  <a:srgbClr val="53647D"/>
                </a:solidFill>
              </a:rPr>
              <a:t>Core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417320"/>
          </a:xfrm>
          <a:prstGeom prst="rect">
            <a:avLst/>
          </a:prstGeom>
          <a:solidFill>
            <a:srgbClr val="22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Pandas</a:t>
            </a:r>
          </a:p>
          <a:p>
            <a:r>
              <a:rPr sz="1000">
                <a:solidFill>
                  <a:srgbClr val="53647D"/>
                </a:solidFill>
              </a:rPr>
              <a:t>Data Manipulation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64008" cy="1417320"/>
          </a:xfrm>
          <a:prstGeom prst="rect">
            <a:avLst/>
          </a:prstGeom>
          <a:solidFill>
            <a:srgbClr val="1CB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NumPy</a:t>
            </a:r>
          </a:p>
          <a:p>
            <a:r>
              <a:rPr sz="1000">
                <a:solidFill>
                  <a:srgbClr val="53647D"/>
                </a:solidFill>
              </a:rPr>
              <a:t>Numerical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417320"/>
            <a:ext cx="64008" cy="1417320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Matplotlib / Plotly</a:t>
            </a:r>
          </a:p>
          <a:p>
            <a:r>
              <a:rPr sz="1000">
                <a:solidFill>
                  <a:srgbClr val="53647D"/>
                </a:solidFill>
              </a:rPr>
              <a:t>Visual Analytics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29000"/>
            <a:ext cx="64008" cy="1417320"/>
          </a:xfrm>
          <a:prstGeom prst="rect">
            <a:avLst/>
          </a:prstGeom>
          <a:solidFill>
            <a:srgbClr val="6F4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Power BI</a:t>
            </a:r>
          </a:p>
          <a:p>
            <a:r>
              <a:rPr sz="1000">
                <a:solidFill>
                  <a:srgbClr val="53647D"/>
                </a:solidFill>
              </a:rPr>
              <a:t>Interactive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429000"/>
            <a:ext cx="64008" cy="1417320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83879" y="34290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Excel / CSV</a:t>
            </a:r>
          </a:p>
          <a:p>
            <a:r>
              <a:rPr sz="1000">
                <a:solidFill>
                  <a:srgbClr val="53647D"/>
                </a:solidFill>
              </a:rPr>
              <a:t>Data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3429000"/>
            <a:ext cx="64008" cy="1417320"/>
          </a:xfrm>
          <a:prstGeom prst="rect">
            <a:avLst/>
          </a:prstGeom>
          <a:solidFill>
            <a:srgbClr val="E0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05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Dataset &amp; Key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Realistic dummy / anonymized academic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Student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2588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Gender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39" y="132588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Semester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51460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Attendance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Study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251460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Assignment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Internal Marks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70332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Final Marks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03320"/>
            <a:ext cx="2423160" cy="694944"/>
          </a:xfrm>
          <a:prstGeom prst="roundRect">
            <a:avLst/>
          </a:prstGeom>
          <a:solidFill>
            <a:srgbClr val="F4F7FB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1937"/>
                </a:solidFill>
              </a:rPr>
              <a:t>Grade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06 •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From raw records to actionable insights.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rgbClr val="22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49047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73E"/>
                </a:solidFill>
              </a:rPr>
              <a:t>Data Collection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1463040"/>
            <a:ext cx="594360" cy="594360"/>
          </a:xfrm>
          <a:prstGeom prst="ellipse">
            <a:avLst/>
          </a:prstGeom>
          <a:solidFill>
            <a:srgbClr val="1CB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49047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73E"/>
                </a:solidFill>
              </a:rPr>
              <a:t>Data Cleaning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1463040"/>
            <a:ext cx="594360" cy="594360"/>
          </a:xfrm>
          <a:prstGeom prst="ellipse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149047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73E"/>
                </a:solidFill>
              </a:rPr>
              <a:t>Preprocessing</a:t>
            </a:r>
          </a:p>
        </p:txBody>
      </p:sp>
      <p:sp>
        <p:nvSpPr>
          <p:cNvPr id="12" name="Oval 11"/>
          <p:cNvSpPr/>
          <p:nvPr/>
        </p:nvSpPr>
        <p:spPr>
          <a:xfrm>
            <a:off x="9052559" y="1463040"/>
            <a:ext cx="594360" cy="594360"/>
          </a:xfrm>
          <a:prstGeom prst="ellipse">
            <a:avLst/>
          </a:prstGeom>
          <a:solidFill>
            <a:srgbClr val="6F4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2367" y="149047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73E"/>
                </a:solidFill>
              </a:rPr>
              <a:t>EDA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383280"/>
            <a:ext cx="594360" cy="594360"/>
          </a:xfrm>
          <a:prstGeom prst="ellipse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41071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73E"/>
                </a:solidFill>
              </a:rPr>
              <a:t>Visualization</a:t>
            </a:r>
          </a:p>
        </p:txBody>
      </p:sp>
      <p:sp>
        <p:nvSpPr>
          <p:cNvPr id="16" name="Oval 15"/>
          <p:cNvSpPr/>
          <p:nvPr/>
        </p:nvSpPr>
        <p:spPr>
          <a:xfrm>
            <a:off x="3474720" y="3383280"/>
            <a:ext cx="594360" cy="594360"/>
          </a:xfrm>
          <a:prstGeom prst="ellipse">
            <a:avLst/>
          </a:prstGeom>
          <a:solidFill>
            <a:srgbClr val="E0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41071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73E"/>
                </a:solidFill>
              </a:rPr>
              <a:t>Insights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3383280"/>
            <a:ext cx="594360" cy="594360"/>
          </a:xfrm>
          <a:prstGeom prst="ellipse">
            <a:avLst/>
          </a:prstGeom>
          <a:solidFill>
            <a:srgbClr val="22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341071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73E"/>
                </a:solidFill>
              </a:rPr>
              <a:t>Dashboard</a:t>
            </a:r>
          </a:p>
        </p:txBody>
      </p:sp>
      <p:sp>
        <p:nvSpPr>
          <p:cNvPr id="20" name="Oval 19"/>
          <p:cNvSpPr/>
          <p:nvPr/>
        </p:nvSpPr>
        <p:spPr>
          <a:xfrm>
            <a:off x="9052559" y="3383280"/>
            <a:ext cx="594360" cy="594360"/>
          </a:xfrm>
          <a:prstGeom prst="ellipse">
            <a:avLst/>
          </a:prstGeom>
          <a:solidFill>
            <a:srgbClr val="1CB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7" y="341071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73E"/>
                </a:solidFill>
              </a:rP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07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07 •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Data Cleaning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Ensuring the dataset is reliable before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B273E"/>
                </a:solidFill>
                <a:latin typeface="Aptos"/>
              </a:defRPr>
            </a:pPr>
            <a:r>
              <a:t>• Check and handle missing values using appropriate rules.</a:t>
            </a:r>
          </a:p>
          <a:p>
            <a:pPr>
              <a:spcAft>
                <a:spcPts val="1200"/>
              </a:spcAft>
              <a:defRPr sz="1800">
                <a:solidFill>
                  <a:srgbClr val="1B273E"/>
                </a:solidFill>
                <a:latin typeface="Aptos"/>
              </a:defRPr>
            </a:pPr>
            <a:r>
              <a:t>• Identify and remove duplicate student records.</a:t>
            </a:r>
          </a:p>
          <a:p>
            <a:pPr>
              <a:spcAft>
                <a:spcPts val="1200"/>
              </a:spcAft>
              <a:defRPr sz="1800">
                <a:solidFill>
                  <a:srgbClr val="1B273E"/>
                </a:solidFill>
                <a:latin typeface="Aptos"/>
              </a:defRPr>
            </a:pPr>
            <a:r>
              <a:t>• Validate numeric and categorical data types.</a:t>
            </a:r>
          </a:p>
          <a:p>
            <a:pPr>
              <a:spcAft>
                <a:spcPts val="1200"/>
              </a:spcAft>
              <a:defRPr sz="1800">
                <a:solidFill>
                  <a:srgbClr val="1B273E"/>
                </a:solidFill>
                <a:latin typeface="Aptos"/>
              </a:defRPr>
            </a:pPr>
            <a:r>
              <a:t>• Standardize column names, formats and value ranges.</a:t>
            </a:r>
          </a:p>
          <a:p>
            <a:pPr>
              <a:spcAft>
                <a:spcPts val="1200"/>
              </a:spcAft>
              <a:defRPr sz="1800">
                <a:solidFill>
                  <a:srgbClr val="1B273E"/>
                </a:solidFill>
                <a:latin typeface="Aptos"/>
              </a:defRPr>
            </a:pPr>
            <a:r>
              <a:t>• Create derived fields such as grades and performance categories.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08 •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Core metrics used to understand the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73.6</a:t>
            </a:r>
          </a:p>
          <a:p>
            <a:r>
              <a:rPr sz="1000">
                <a:solidFill>
                  <a:srgbClr val="53647D"/>
                </a:solidFill>
              </a:rPr>
              <a:t>Average Marks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325880"/>
          </a:xfrm>
          <a:prstGeom prst="rect">
            <a:avLst/>
          </a:prstGeom>
          <a:solidFill>
            <a:srgbClr val="22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84.7%</a:t>
            </a:r>
          </a:p>
          <a:p>
            <a:r>
              <a:rPr sz="1000">
                <a:solidFill>
                  <a:srgbClr val="53647D"/>
                </a:solidFill>
              </a:rPr>
              <a:t>Average Attendance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25880"/>
            <a:ext cx="64008" cy="1325880"/>
          </a:xfrm>
          <a:prstGeom prst="rect">
            <a:avLst/>
          </a:prstGeom>
          <a:solidFill>
            <a:srgbClr val="1CB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91.8%</a:t>
            </a:r>
          </a:p>
          <a:p>
            <a:r>
              <a:rPr sz="1000">
                <a:solidFill>
                  <a:srgbClr val="53647D"/>
                </a:solidFill>
              </a:rPr>
              <a:t>Pass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64008" cy="1325880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52559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98</a:t>
            </a:r>
          </a:p>
          <a:p>
            <a:r>
              <a:rPr sz="1000">
                <a:solidFill>
                  <a:srgbClr val="53647D"/>
                </a:solidFill>
              </a:rPr>
              <a:t>Highest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59" y="1325880"/>
            <a:ext cx="64008" cy="1325880"/>
          </a:xfrm>
          <a:prstGeom prst="rect">
            <a:avLst/>
          </a:prstGeom>
          <a:solidFill>
            <a:srgbClr val="6F4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Analyze attendance and grade distributions.</a:t>
            </a:r>
          </a:p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Compare department-wise and subject-wise performance.</a:t>
            </a:r>
          </a:p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Identify top performers and students requiring academic support.</a:t>
            </a:r>
          </a:p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Examine relationships between attendance, study behavior and marks.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09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09 • VISUALS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Data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Charts designed to make performance patterns easy to interpret.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Bar Chart</a:t>
            </a:r>
          </a:p>
          <a:p>
            <a:r>
              <a:rPr sz="1000">
                <a:solidFill>
                  <a:srgbClr val="53647D"/>
                </a:solidFill>
              </a:rPr>
              <a:t>Top 10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417320"/>
          </a:xfrm>
          <a:prstGeom prst="rect">
            <a:avLst/>
          </a:prstGeom>
          <a:solidFill>
            <a:srgbClr val="22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80559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Donut Chart</a:t>
            </a:r>
          </a:p>
          <a:p>
            <a:r>
              <a:rPr sz="1000">
                <a:solidFill>
                  <a:srgbClr val="53647D"/>
                </a:solidFill>
              </a:rPr>
              <a:t>Grade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25880"/>
            <a:ext cx="64008" cy="1417320"/>
          </a:xfrm>
          <a:prstGeom prst="rect">
            <a:avLst/>
          </a:prstGeom>
          <a:solidFill>
            <a:srgbClr val="1CB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Line Chart</a:t>
            </a:r>
          </a:p>
          <a:p>
            <a:r>
              <a:rPr sz="1000">
                <a:solidFill>
                  <a:srgbClr val="53647D"/>
                </a:solidFill>
              </a:rPr>
              <a:t>Attendance Trend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25880"/>
            <a:ext cx="64008" cy="1417320"/>
          </a:xfrm>
          <a:prstGeom prst="rect">
            <a:avLst/>
          </a:prstGeom>
          <a:solidFill>
            <a:srgbClr val="6F4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Scatter Plot</a:t>
            </a:r>
          </a:p>
          <a:p>
            <a:r>
              <a:rPr sz="1000">
                <a:solidFill>
                  <a:srgbClr val="53647D"/>
                </a:solidFill>
              </a:rPr>
              <a:t>Attendance vs Marks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64008" cy="1417320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80559" y="33832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Histogram</a:t>
            </a:r>
          </a:p>
          <a:p>
            <a:r>
              <a:rPr sz="1000">
                <a:solidFill>
                  <a:srgbClr val="53647D"/>
                </a:solidFill>
              </a:rPr>
              <a:t>Marks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3383280"/>
            <a:ext cx="64008" cy="1417320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33832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Heatmap</a:t>
            </a:r>
          </a:p>
          <a:p>
            <a:r>
              <a:rPr sz="1000">
                <a:solidFill>
                  <a:srgbClr val="53647D"/>
                </a:solidFill>
              </a:rPr>
              <a:t>Correlation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383280"/>
            <a:ext cx="64008" cy="1417320"/>
          </a:xfrm>
          <a:prstGeom prst="rect">
            <a:avLst/>
          </a:prstGeom>
          <a:solidFill>
            <a:srgbClr val="E0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10 •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Dashboard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A single-screen view of the most important academic indicators.</a:t>
            </a:r>
          </a:p>
        </p:txBody>
      </p:sp>
      <p:pic>
        <p:nvPicPr>
          <p:cNvPr id="6" name="Picture 5" descr="a_clean_colorful_dashboard_ui_screenshot_for_a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2014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11 •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Illustrative findings from the sample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91.8%</a:t>
            </a:r>
          </a:p>
          <a:p>
            <a:r>
              <a:rPr sz="1000">
                <a:solidFill>
                  <a:srgbClr val="53647D"/>
                </a:solidFill>
              </a:rPr>
              <a:t>Pass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325880"/>
          </a:xfrm>
          <a:prstGeom prst="rect">
            <a:avLst/>
          </a:prstGeom>
          <a:solidFill>
            <a:srgbClr val="1CB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84.7%</a:t>
            </a:r>
          </a:p>
          <a:p>
            <a:r>
              <a:rPr sz="1000">
                <a:solidFill>
                  <a:srgbClr val="53647D"/>
                </a:solidFill>
              </a:rPr>
              <a:t>Avg. Attendance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25880"/>
            <a:ext cx="64008" cy="1325880"/>
          </a:xfrm>
          <a:prstGeom prst="rect">
            <a:avLst/>
          </a:prstGeom>
          <a:solidFill>
            <a:srgbClr val="22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73.6</a:t>
            </a:r>
          </a:p>
          <a:p>
            <a:r>
              <a:rPr sz="1000">
                <a:solidFill>
                  <a:srgbClr val="53647D"/>
                </a:solidFill>
              </a:rPr>
              <a:t>Avg. 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64008" cy="1325880"/>
          </a:xfrm>
          <a:prstGeom prst="rect">
            <a:avLst/>
          </a:prstGeom>
          <a:solidFill>
            <a:srgbClr val="6F4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52559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2400" b="1">
                <a:solidFill>
                  <a:srgbClr val="0A1937"/>
                </a:solidFill>
                <a:latin typeface="Aptos Display"/>
              </a:rPr>
              <a:t>39</a:t>
            </a:r>
          </a:p>
          <a:p>
            <a:r>
              <a:rPr sz="1000">
                <a:solidFill>
                  <a:srgbClr val="53647D"/>
                </a:solidFill>
              </a:rPr>
              <a:t>Support Flag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59" y="1325880"/>
            <a:ext cx="64008" cy="1325880"/>
          </a:xfrm>
          <a:prstGeom prst="rect">
            <a:avLst/>
          </a:prstGeom>
          <a:solidFill>
            <a:srgbClr val="F2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High-attendance students generally show stronger academic outcomes in the sample.</a:t>
            </a:r>
          </a:p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Python Programming records the highest subject-wise average in the sample.</a:t>
            </a:r>
          </a:p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Low attendance combined with low marks can be used as a support indicator.</a:t>
            </a:r>
          </a:p>
          <a:p>
            <a:pPr>
              <a:spcAft>
                <a:spcPts val="1200"/>
              </a:spcAft>
              <a:defRPr sz="1700">
                <a:solidFill>
                  <a:srgbClr val="1B273E"/>
                </a:solidFill>
                <a:latin typeface="Aptos"/>
              </a:defRPr>
            </a:pPr>
            <a:r>
              <a:t>• The dashboard enables faster comparison across departments, grades and student groups.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12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How the current project can evolve into a production-ready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A1937"/>
                </a:solidFill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617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B273E"/>
                </a:solidFill>
              </a:defRPr>
            </a:pPr>
            <a:r>
              <a:t>• Dummy / anonymized dataset</a:t>
            </a:r>
          </a:p>
          <a:p>
            <a:pPr>
              <a:spcAft>
                <a:spcPts val="1100"/>
              </a:spcAft>
              <a:defRPr sz="1500">
                <a:solidFill>
                  <a:srgbClr val="1B273E"/>
                </a:solidFill>
              </a:defRPr>
            </a:pPr>
            <a:r>
              <a:t>• Historical analysis only</a:t>
            </a:r>
          </a:p>
          <a:p>
            <a:pPr>
              <a:spcAft>
                <a:spcPts val="1100"/>
              </a:spcAft>
              <a:defRPr sz="1500">
                <a:solidFill>
                  <a:srgbClr val="1B273E"/>
                </a:solidFill>
              </a:defRPr>
            </a:pPr>
            <a:r>
              <a:t>• No predictive model</a:t>
            </a:r>
          </a:p>
          <a:p>
            <a:pPr>
              <a:spcAft>
                <a:spcPts val="1100"/>
              </a:spcAft>
              <a:defRPr sz="1500">
                <a:solidFill>
                  <a:srgbClr val="1B273E"/>
                </a:solidFill>
              </a:defRPr>
            </a:pPr>
            <a:r>
              <a:t>• Threshold-based support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A1937"/>
                </a:solidFill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617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B273E"/>
                </a:solidFill>
              </a:defRPr>
            </a:pPr>
            <a:r>
              <a:t>• Real college database integration</a:t>
            </a:r>
          </a:p>
          <a:p>
            <a:pPr>
              <a:spcAft>
                <a:spcPts val="1100"/>
              </a:spcAft>
              <a:defRPr sz="1500">
                <a:solidFill>
                  <a:srgbClr val="1B273E"/>
                </a:solidFill>
              </a:defRPr>
            </a:pPr>
            <a:r>
              <a:t>• Automated attendance import</a:t>
            </a:r>
          </a:p>
          <a:p>
            <a:pPr>
              <a:spcAft>
                <a:spcPts val="1100"/>
              </a:spcAft>
              <a:defRPr sz="1500">
                <a:solidFill>
                  <a:srgbClr val="1B273E"/>
                </a:solidFill>
              </a:defRPr>
            </a:pPr>
            <a:r>
              <a:t>• Teacher and student login</a:t>
            </a:r>
          </a:p>
          <a:p>
            <a:pPr>
              <a:spcAft>
                <a:spcPts val="1100"/>
              </a:spcAft>
              <a:defRPr sz="1500">
                <a:solidFill>
                  <a:srgbClr val="1B273E"/>
                </a:solidFill>
              </a:defRPr>
            </a:pPr>
            <a:r>
              <a:t>• Automated monthly reports</a:t>
            </a:r>
          </a:p>
          <a:p>
            <a:pPr>
              <a:spcAft>
                <a:spcPts val="1100"/>
              </a:spcAft>
              <a:defRPr sz="1500">
                <a:solidFill>
                  <a:srgbClr val="1B273E"/>
                </a:solidFill>
              </a:defRPr>
            </a:pPr>
            <a:r>
              <a:t>• Optional predictive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69EB"/>
                </a:solidFill>
              </a:rPr>
              <a:t>13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A1937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3647D"/>
                </a:solidFill>
              </a:rPr>
              <a:t>A concise summary of the project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B273E"/>
                </a:solidFill>
                <a:latin typeface="Aptos"/>
              </a:defRPr>
            </a:pPr>
            <a:r>
              <a:t>• Student Performance Analysis converts raw academic records into understandable performance insights.</a:t>
            </a:r>
          </a:p>
          <a:p>
            <a:pPr>
              <a:spcAft>
                <a:spcPts val="1200"/>
              </a:spcAft>
              <a:defRPr sz="1800">
                <a:solidFill>
                  <a:srgbClr val="1B273E"/>
                </a:solidFill>
                <a:latin typeface="Aptos"/>
              </a:defRPr>
            </a:pPr>
            <a:r>
              <a:t>• The workflow combines data cleaning, exploratory analysis, visualization and dashboard reporting.</a:t>
            </a:r>
          </a:p>
          <a:p>
            <a:pPr>
              <a:spcAft>
                <a:spcPts val="1200"/>
              </a:spcAft>
              <a:defRPr sz="1800">
                <a:solidFill>
                  <a:srgbClr val="1B273E"/>
                </a:solidFill>
                <a:latin typeface="Aptos"/>
              </a:defRPr>
            </a:pPr>
            <a:r>
              <a:t>• The solution can help educators monitor trends and identify students who may require support.</a:t>
            </a:r>
          </a:p>
          <a:p>
            <a:pPr>
              <a:spcAft>
                <a:spcPts val="1200"/>
              </a:spcAft>
              <a:defRPr sz="1800">
                <a:solidFill>
                  <a:srgbClr val="1B273E"/>
                </a:solidFill>
                <a:latin typeface="Aptos"/>
              </a:defRPr>
            </a:pPr>
            <a:r>
              <a:t>• The architecture can be extended to real institutional data and advanced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983480"/>
            <a:ext cx="8138160" cy="731520"/>
          </a:xfrm>
          <a:prstGeom prst="round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From data → insight → better academic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3647D"/>
                </a:solidFill>
              </a:rPr>
              <a:t>STUDENT PERFORMANCE ANALYSIS  •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1111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69EB"/>
                </a:solidFill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-137160"/>
            <a:ext cx="1463040" cy="91440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-228600" y="6172200"/>
            <a:ext cx="1143000" cy="731520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45268" y="3950208"/>
            <a:ext cx="1828801" cy="2843784"/>
          </a:xfrm>
          <a:prstGeom prst="round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40" y="4040308"/>
            <a:ext cx="1618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2B3A52"/>
                </a:solidFill>
                <a:latin typeface="Aptos"/>
              </a:rPr>
              <a:t>PROJECT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7272" y="4389120"/>
            <a:ext cx="1828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01C34"/>
                </a:solidFill>
                <a:latin typeface="Aptos"/>
              </a:rPr>
              <a:t>DATA
→
INSIGHT
→
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022353"/>
            <a:ext cx="45811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68768A"/>
                </a:solidFill>
                <a:latin typeface="Aptos"/>
              </a:rPr>
              <a:t>Clear academic visibility through structured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98280" y="-502920"/>
            <a:ext cx="3749039" cy="3749039"/>
          </a:xfrm>
          <a:prstGeom prst="round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38360" y="320040"/>
            <a:ext cx="2743200" cy="2743200"/>
          </a:xfrm>
          <a:prstGeom prst="roundRect">
            <a:avLst/>
          </a:prstGeom>
          <a:solidFill>
            <a:srgbClr val="80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685800" y="5486400"/>
            <a:ext cx="2743200" cy="1920240"/>
          </a:xfrm>
          <a:prstGeom prst="roundRect">
            <a:avLst/>
          </a:prstGeom>
          <a:solidFill>
            <a:srgbClr val="5B9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A5C3DC"/>
                </a:solidFill>
                <a:latin typeface="Aptos"/>
              </a:rPr>
              <a:t>STUDENT PERFORMANCE ANALYSIS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>
                <a:solidFill>
                  <a:srgbClr val="C4D7E8"/>
                </a:solidFill>
                <a:latin typeface="Aptos"/>
              </a:rPr>
              <a:t>Questions • Discussion • Feedback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4069080"/>
            <a:ext cx="5349240" cy="54864"/>
          </a:xfrm>
          <a:prstGeom prst="rect">
            <a:avLst/>
          </a:prstGeom>
          <a:solidFill>
            <a:srgbClr val="2D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0332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Satyajeet Singh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5BED7"/>
                </a:solidFill>
                <a:latin typeface="Aptos"/>
              </a:rPr>
              <a:t>Department of Data Science  •  2025–2026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6AEC9"/>
                </a:solidFill>
                <a:latin typeface="Aptos"/>
              </a:rPr>
              <a:t>Thank you for your time and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846</Words>
  <Application>Microsoft Office PowerPoint</Application>
  <PresentationFormat>Widescreen</PresentationFormat>
  <Paragraphs>210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Satyajeet singh</cp:lastModifiedBy>
  <cp:revision>2</cp:revision>
  <dcterms:created xsi:type="dcterms:W3CDTF">2013-01-27T09:14:16Z</dcterms:created>
  <dcterms:modified xsi:type="dcterms:W3CDTF">2026-08-10T14:32:07Z</dcterms:modified>
  <cp:category/>
</cp:coreProperties>
</file>